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amond Bold" charset="1" panose="02020804030307010803"/>
      <p:regular r:id="rId16"/>
    </p:embeddedFont>
    <p:embeddedFont>
      <p:font typeface="Montserrat Bold" charset="1" panose="00000800000000000000"/>
      <p:regular r:id="rId17"/>
    </p:embeddedFont>
    <p:embeddedFont>
      <p:font typeface="Garamond" charset="1" panose="02020404030301010803"/>
      <p:regular r:id="rId18"/>
    </p:embeddedFont>
    <p:embeddedFont>
      <p:font typeface="Montserrat" charset="1" panose="00000500000000000000"/>
      <p:regular r:id="rId19"/>
    </p:embeddedFont>
    <p:embeddedFont>
      <p:font typeface="Agrandir Bold" charset="1" panose="00000800000000000000"/>
      <p:regular r:id="rId20"/>
    </p:embeddedFont>
    <p:embeddedFont>
      <p:font typeface="Agrandir" charset="1" panose="00000500000000000000"/>
      <p:regular r:id="rId21"/>
    </p:embeddedFont>
    <p:embeddedFont>
      <p:font typeface="Montserrat Medium" charset="1" panose="000006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17255" y="4664795"/>
            <a:ext cx="4201538" cy="6621336"/>
          </a:xfrm>
          <a:custGeom>
            <a:avLst/>
            <a:gdLst/>
            <a:ahLst/>
            <a:cxnLst/>
            <a:rect r="r" b="b" t="t" l="l"/>
            <a:pathLst>
              <a:path h="6621336" w="4201538">
                <a:moveTo>
                  <a:pt x="0" y="0"/>
                </a:moveTo>
                <a:lnTo>
                  <a:pt x="4201539" y="0"/>
                </a:lnTo>
                <a:lnTo>
                  <a:pt x="4201539" y="6621336"/>
                </a:lnTo>
                <a:lnTo>
                  <a:pt x="0" y="662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7255" y="9609"/>
            <a:ext cx="4201538" cy="3208448"/>
          </a:xfrm>
          <a:custGeom>
            <a:avLst/>
            <a:gdLst/>
            <a:ahLst/>
            <a:cxnLst/>
            <a:rect r="r" b="b" t="t" l="l"/>
            <a:pathLst>
              <a:path h="3208448" w="4201538">
                <a:moveTo>
                  <a:pt x="0" y="0"/>
                </a:moveTo>
                <a:lnTo>
                  <a:pt x="4201539" y="0"/>
                </a:lnTo>
                <a:lnTo>
                  <a:pt x="4201539" y="3208447"/>
                </a:lnTo>
                <a:lnTo>
                  <a:pt x="0" y="3208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6714" y="1028700"/>
            <a:ext cx="689027" cy="659170"/>
          </a:xfrm>
          <a:custGeom>
            <a:avLst/>
            <a:gdLst/>
            <a:ahLst/>
            <a:cxnLst/>
            <a:rect r="r" b="b" t="t" l="l"/>
            <a:pathLst>
              <a:path h="659170" w="689027">
                <a:moveTo>
                  <a:pt x="0" y="0"/>
                </a:moveTo>
                <a:lnTo>
                  <a:pt x="689028" y="0"/>
                </a:lnTo>
                <a:lnTo>
                  <a:pt x="689028" y="659170"/>
                </a:lnTo>
                <a:lnTo>
                  <a:pt x="0" y="659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06714" y="2121677"/>
            <a:ext cx="13044460" cy="200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9"/>
              </a:lnSpc>
            </a:pPr>
            <a:r>
              <a:rPr lang="en-US" sz="4754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FREEDOM OF EXPRESSION </a:t>
            </a:r>
          </a:p>
          <a:p>
            <a:pPr algn="l">
              <a:lnSpc>
                <a:spcPts val="5229"/>
              </a:lnSpc>
            </a:pPr>
            <a:r>
              <a:rPr lang="en-US" sz="4754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(Kebebasan Berekspresi)</a:t>
            </a:r>
          </a:p>
          <a:p>
            <a:pPr algn="l">
              <a:lnSpc>
                <a:spcPts val="522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06714" y="4076846"/>
            <a:ext cx="6758672" cy="198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1905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Anggota Kelompok [5]:</a:t>
            </a:r>
          </a:p>
          <a:p>
            <a:pPr algn="l">
              <a:lnSpc>
                <a:spcPts val="2668"/>
              </a:lnSpc>
            </a:pPr>
          </a:p>
          <a:p>
            <a:pPr algn="l">
              <a:lnSpc>
                <a:spcPts val="2668"/>
              </a:lnSpc>
            </a:pPr>
            <a:r>
              <a:rPr lang="en-US" sz="1905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Ananda Haris Rahmadi (25782032)</a:t>
            </a:r>
          </a:p>
          <a:p>
            <a:pPr algn="l">
              <a:lnSpc>
                <a:spcPts val="2668"/>
              </a:lnSpc>
            </a:pPr>
            <a:r>
              <a:rPr lang="en-US" sz="1905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Salim Suheri Sitompul (25782053)</a:t>
            </a:r>
          </a:p>
          <a:p>
            <a:pPr algn="l">
              <a:lnSpc>
                <a:spcPts val="2668"/>
              </a:lnSpc>
            </a:pPr>
            <a:r>
              <a:rPr lang="en-US" sz="1905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Tengku Geisya Gustiana Syah (25782028)</a:t>
            </a:r>
          </a:p>
          <a:p>
            <a:pPr algn="l">
              <a:lnSpc>
                <a:spcPts val="266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538037" y="1191678"/>
            <a:ext cx="3926409" cy="3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618" spc="-52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Politeknik Negeri Lampung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6714" y="6761616"/>
            <a:ext cx="7537286" cy="187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8"/>
              </a:lnSpc>
            </a:pPr>
            <a:r>
              <a:rPr lang="en-US" sz="1805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dosen pengampu :</a:t>
            </a:r>
          </a:p>
          <a:p>
            <a:pPr algn="just">
              <a:lnSpc>
                <a:spcPts val="2528"/>
              </a:lnSpc>
            </a:pPr>
          </a:p>
          <a:p>
            <a:pPr algn="just" marL="389864" indent="-194932" lvl="1">
              <a:lnSpc>
                <a:spcPts val="2528"/>
              </a:lnSpc>
              <a:buFont typeface="Arial"/>
              <a:buChar char="•"/>
            </a:pPr>
            <a:r>
              <a:rPr lang="en-US" b="true" sz="1805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Ir. Imam Asrowardi, S.Kom., M.Kom., M.Pd., IPM., ASEAN Eng.</a:t>
            </a:r>
          </a:p>
          <a:p>
            <a:pPr algn="just" marL="389864" indent="-194932" lvl="1">
              <a:lnSpc>
                <a:spcPts val="2528"/>
              </a:lnSpc>
              <a:buFont typeface="Arial"/>
              <a:buChar char="•"/>
            </a:pPr>
            <a:r>
              <a:rPr lang="en-US" b="true" sz="1805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Agiska Ria Supriyatna, S.Si., M.T.I.</a:t>
            </a:r>
          </a:p>
          <a:p>
            <a:pPr algn="just">
              <a:lnSpc>
                <a:spcPts val="25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89528" y="6559483"/>
            <a:ext cx="7579055" cy="7455034"/>
          </a:xfrm>
          <a:custGeom>
            <a:avLst/>
            <a:gdLst/>
            <a:ahLst/>
            <a:cxnLst/>
            <a:rect r="r" b="b" t="t" l="l"/>
            <a:pathLst>
              <a:path h="7455034" w="7579055">
                <a:moveTo>
                  <a:pt x="0" y="0"/>
                </a:moveTo>
                <a:lnTo>
                  <a:pt x="7579056" y="0"/>
                </a:lnTo>
                <a:lnTo>
                  <a:pt x="7579056" y="7455034"/>
                </a:lnTo>
                <a:lnTo>
                  <a:pt x="0" y="7455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65099" y="-1200232"/>
            <a:ext cx="2927620" cy="2879714"/>
          </a:xfrm>
          <a:custGeom>
            <a:avLst/>
            <a:gdLst/>
            <a:ahLst/>
            <a:cxnLst/>
            <a:rect r="r" b="b" t="t" l="l"/>
            <a:pathLst>
              <a:path h="2879714" w="2927620">
                <a:moveTo>
                  <a:pt x="0" y="0"/>
                </a:moveTo>
                <a:lnTo>
                  <a:pt x="2927621" y="0"/>
                </a:lnTo>
                <a:lnTo>
                  <a:pt x="2927621" y="2879713"/>
                </a:lnTo>
                <a:lnTo>
                  <a:pt x="0" y="2879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06714" y="2197437"/>
            <a:ext cx="11165414" cy="125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4454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PENDAHULUAN &amp; URGENSI KEBEBASAN BEREKSPRESI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6714" y="3797666"/>
            <a:ext cx="14401342" cy="1345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9"/>
              </a:lnSpc>
            </a:pPr>
            <a:r>
              <a:rPr lang="en-US" sz="1605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Kutipan Relevan:</a:t>
            </a:r>
          </a:p>
          <a:p>
            <a:pPr algn="just" marL="346685" indent="-173342" lvl="1">
              <a:lnSpc>
                <a:spcPts val="2729"/>
              </a:lnSpc>
              <a:buFont typeface="Arial"/>
              <a:buChar char="•"/>
            </a:pPr>
            <a:r>
              <a:rPr lang="en-US" sz="1605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"Sangat mudah untuk mempercayai kebebasan berbicara bagi mereka yang sependapat dengan kita." — Leo McKern (Aktor Australia) </a:t>
            </a:r>
          </a:p>
          <a:p>
            <a:pPr algn="just" marL="346685" indent="-173342" lvl="1">
              <a:lnSpc>
                <a:spcPts val="2729"/>
              </a:lnSpc>
              <a:buFont typeface="Arial"/>
              <a:buChar char="•"/>
            </a:pPr>
            <a:r>
              <a:rPr lang="en-US" sz="1605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Alternatif Konstitusi Indonesia: UUD 1945 Pasal 28E — "Setiap orang berhak atas kebebasan berserikat, berkumpul, dan mengeluarkan pendapat."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6714" y="1028700"/>
            <a:ext cx="689027" cy="659170"/>
          </a:xfrm>
          <a:custGeom>
            <a:avLst/>
            <a:gdLst/>
            <a:ahLst/>
            <a:cxnLst/>
            <a:rect r="r" b="b" t="t" l="l"/>
            <a:pathLst>
              <a:path h="659170" w="689027">
                <a:moveTo>
                  <a:pt x="0" y="0"/>
                </a:moveTo>
                <a:lnTo>
                  <a:pt x="689028" y="0"/>
                </a:lnTo>
                <a:lnTo>
                  <a:pt x="689028" y="659170"/>
                </a:lnTo>
                <a:lnTo>
                  <a:pt x="0" y="65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38037" y="1191678"/>
            <a:ext cx="3926409" cy="3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618" spc="-52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Politeknik Negeri Lampung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1228" y="5534025"/>
            <a:ext cx="14401342" cy="237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9"/>
              </a:lnSpc>
            </a:pPr>
            <a:r>
              <a:rPr lang="en-US" sz="1605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Pentingnya Kebebasan Berekspresi di Era Digital:</a:t>
            </a:r>
          </a:p>
          <a:p>
            <a:pPr algn="just" marL="346685" indent="-173342" lvl="1">
              <a:lnSpc>
                <a:spcPts val="2729"/>
              </a:lnSpc>
              <a:buFont typeface="Arial"/>
              <a:buChar char="•"/>
            </a:pPr>
            <a:r>
              <a:rPr lang="en-US" sz="1605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Akses Global T</a:t>
            </a:r>
            <a:r>
              <a:rPr lang="en-US" sz="1605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anpa Batas: Internet memfasilitasi pertukaran berita, ide, opini, dan informasi secara instan ke jutaan audiens di seluruh dunia. </a:t>
            </a:r>
          </a:p>
          <a:p>
            <a:pPr algn="just" marL="346685" indent="-173342" lvl="1">
              <a:lnSpc>
                <a:spcPts val="2729"/>
              </a:lnSpc>
              <a:buFont typeface="Arial"/>
              <a:buChar char="•"/>
            </a:pPr>
            <a:r>
              <a:rPr lang="en-US" sz="1605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Kekuatan &amp; Kecepatan Informasi: Memberikan kemudahan bagi siapa saja untuk menyebarkan pesan secara luas, namun juga memunculkan tantangan besar terhadap validitas isi informasi. </a:t>
            </a:r>
          </a:p>
          <a:p>
            <a:pPr algn="just" marL="346685" indent="-173342" lvl="1">
              <a:lnSpc>
                <a:spcPts val="2729"/>
              </a:lnSpc>
              <a:buFont typeface="Arial"/>
              <a:buChar char="•"/>
            </a:pPr>
            <a:r>
              <a:rPr lang="en-US" sz="1605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Dilema Etis Modern: Menuntut setiap pengguna digital untuk mampu menyeimbangkan antara hak kebebasan berbicara dengan tanggung jawab moral agar tidak merugikan pihak lain.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2744" y="0"/>
            <a:ext cx="3325256" cy="2539286"/>
          </a:xfrm>
          <a:custGeom>
            <a:avLst/>
            <a:gdLst/>
            <a:ahLst/>
            <a:cxnLst/>
            <a:rect r="r" b="b" t="t" l="l"/>
            <a:pathLst>
              <a:path h="2539286" w="3325256">
                <a:moveTo>
                  <a:pt x="0" y="0"/>
                </a:moveTo>
                <a:lnTo>
                  <a:pt x="3325256" y="0"/>
                </a:lnTo>
                <a:lnTo>
                  <a:pt x="3325256" y="2539286"/>
                </a:lnTo>
                <a:lnTo>
                  <a:pt x="0" y="2539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6714" y="1970489"/>
            <a:ext cx="11472376" cy="1385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854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KONSEP DASAR &amp; HAK KEBEBASAN BERBICARA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6714" y="3708542"/>
            <a:ext cx="14531796" cy="527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Landasan Konstitusional: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Amandemen Pertama (First Amendment) Konstitusi AS: Menjamin kebebasan beragama, kebebasan berbicara (freedom of speech), kebebasan pers, hak berkumpul secara damai, dan hak mengajukan petisi kepada pemerintah. 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Diperluas oleh Mahkamah Agung mencakup ekspresi nonverbal, visual, simbolik, dan hak untuk berbicara secara anonim. 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Jenis Ujaran yang Tidak Dilindungi Hukum (Unprotected Speech):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Perjury &amp; Fraud: Sumpah palsu dan pernyataan penipuan ilegal. 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Defamation: Pencemaran nama baik, baik lisan (slander) maupun tulisan (libel). 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Obscene Speech: Materi cabul/pornografi yang melanggar standar kesusilaan umum (Miller v. California test). 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Incitement &amp; Fighting Words: Hasutan untuk menimbulkan kepanikan, kekacauan, kejahatan, atau memicu kekerasan fisik. 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Sedition: Hasutan untuk melakukan pemberontakan terhadap pemerintah yang sah. 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6714" y="1028700"/>
            <a:ext cx="689027" cy="659170"/>
          </a:xfrm>
          <a:custGeom>
            <a:avLst/>
            <a:gdLst/>
            <a:ahLst/>
            <a:cxnLst/>
            <a:rect r="r" b="b" t="t" l="l"/>
            <a:pathLst>
              <a:path h="659170" w="689027">
                <a:moveTo>
                  <a:pt x="0" y="0"/>
                </a:moveTo>
                <a:lnTo>
                  <a:pt x="689028" y="0"/>
                </a:lnTo>
                <a:lnTo>
                  <a:pt x="689028" y="659170"/>
                </a:lnTo>
                <a:lnTo>
                  <a:pt x="0" y="65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38037" y="1191678"/>
            <a:ext cx="3926409" cy="3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618" spc="-52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Politeknik Negeri Lampung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24921"/>
            <a:ext cx="449380" cy="351333"/>
          </a:xfrm>
          <a:custGeom>
            <a:avLst/>
            <a:gdLst/>
            <a:ahLst/>
            <a:cxnLst/>
            <a:rect r="r" b="b" t="t" l="l"/>
            <a:pathLst>
              <a:path h="351333" w="449380">
                <a:moveTo>
                  <a:pt x="0" y="0"/>
                </a:moveTo>
                <a:lnTo>
                  <a:pt x="449380" y="0"/>
                </a:lnTo>
                <a:lnTo>
                  <a:pt x="449380" y="351333"/>
                </a:lnTo>
                <a:lnTo>
                  <a:pt x="0" y="351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6714" y="2366729"/>
            <a:ext cx="1639487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HUKUM &amp; REGULASI ONLINE DI AMERIKA SERIKAT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-409238" y="7560804"/>
            <a:ext cx="3325256" cy="2539286"/>
          </a:xfrm>
          <a:custGeom>
            <a:avLst/>
            <a:gdLst/>
            <a:ahLst/>
            <a:cxnLst/>
            <a:rect r="r" b="b" t="t" l="l"/>
            <a:pathLst>
              <a:path h="2539286" w="3325256">
                <a:moveTo>
                  <a:pt x="0" y="0"/>
                </a:moveTo>
                <a:lnTo>
                  <a:pt x="3325256" y="0"/>
                </a:lnTo>
                <a:lnTo>
                  <a:pt x="3325256" y="2539287"/>
                </a:lnTo>
                <a:lnTo>
                  <a:pt x="0" y="2539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38037" y="3560498"/>
            <a:ext cx="12483430" cy="558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0"/>
              </a:lnSpc>
            </a:pPr>
            <a:r>
              <a:rPr lang="en-US" b="true" sz="2000" spc="-40">
                <a:solidFill>
                  <a:srgbClr val="C7C3BC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Communications Decency Act (CDA) &amp; Section 230:</a:t>
            </a:r>
          </a:p>
          <a:p>
            <a:pPr algn="just">
              <a:lnSpc>
                <a:spcPts val="2200"/>
              </a:lnSpc>
            </a:pPr>
          </a:p>
          <a:p>
            <a:pPr algn="just" marL="410214" indent="-205107" lvl="1">
              <a:lnSpc>
                <a:spcPts val="2090"/>
              </a:lnSpc>
              <a:buFont typeface="Arial"/>
              <a:buChar char="•"/>
            </a:pPr>
            <a:r>
              <a:rPr lang="en-US" sz="1900" spc="-38">
                <a:solidFill>
                  <a:srgbClr val="C7C3BC"/>
                </a:solidFill>
                <a:latin typeface="Agrandir"/>
                <a:ea typeface="Agrandir"/>
                <a:cs typeface="Agrandir"/>
                <a:sym typeface="Agrandir"/>
              </a:rPr>
              <a:t>CDA (1996): Upaya awal melarang transmisi materi "indecent" secara online dengan denda berat; namun dibatalkan oleh</a:t>
            </a:r>
            <a:r>
              <a:rPr lang="en-US" sz="1900" spc="-38">
                <a:solidFill>
                  <a:srgbClr val="C7C3BC"/>
                </a:solidFill>
                <a:latin typeface="Agrandir"/>
                <a:ea typeface="Agrandir"/>
                <a:cs typeface="Agrandir"/>
                <a:sym typeface="Agrandir"/>
              </a:rPr>
              <a:t> Mahkamah Agung karena dianggap inkonstitusional dan melanggar Amandemen Pertama. </a:t>
            </a:r>
          </a:p>
          <a:p>
            <a:pPr algn="just" marL="410214" indent="-205107" lvl="1">
              <a:lnSpc>
                <a:spcPts val="2090"/>
              </a:lnSpc>
              <a:buFont typeface="Arial"/>
              <a:buChar char="•"/>
            </a:pPr>
            <a:r>
              <a:rPr lang="en-US" sz="1900" spc="-38">
                <a:solidFill>
                  <a:srgbClr val="C7C3BC"/>
                </a:solidFill>
                <a:latin typeface="Agrandir"/>
                <a:ea typeface="Agrandir"/>
                <a:cs typeface="Agrandir"/>
                <a:sym typeface="Agrandir"/>
              </a:rPr>
              <a:t>Section 230 CDA: Memberikan imunitas hukum kepada ISP / platform media sosial (seperti Facebook, Twitter) dari tuntutan hukum atas konten yang diunggah oleh pengguna, selama platform tersebut bertindak murni sebagai penyedia layanan, bukan pembuat konten (content provider). </a:t>
            </a:r>
          </a:p>
          <a:p>
            <a:pPr algn="just" marL="410214" indent="-205107" lvl="1">
              <a:lnSpc>
                <a:spcPts val="2090"/>
              </a:lnSpc>
              <a:buFont typeface="Arial"/>
              <a:buChar char="•"/>
            </a:pPr>
          </a:p>
          <a:p>
            <a:pPr algn="just">
              <a:lnSpc>
                <a:spcPts val="2200"/>
              </a:lnSpc>
            </a:pPr>
            <a:r>
              <a:rPr lang="en-US" b="true" sz="2000" spc="-40">
                <a:solidFill>
                  <a:srgbClr val="C7C3BC"/>
                </a:solidFill>
                <a:latin typeface="Agrandir Bold"/>
                <a:ea typeface="Agrandir Bold"/>
                <a:cs typeface="Agrandir Bold"/>
                <a:sym typeface="Agrandir Bold"/>
              </a:rPr>
              <a:t>COPA &amp; CIPA (Perlindungan Anak di Internet):</a:t>
            </a:r>
          </a:p>
          <a:p>
            <a:pPr algn="just">
              <a:lnSpc>
                <a:spcPts val="2200"/>
              </a:lnSpc>
            </a:pPr>
          </a:p>
          <a:p>
            <a:pPr algn="just" marL="410214" indent="-205107" lvl="1">
              <a:lnSpc>
                <a:spcPts val="2090"/>
              </a:lnSpc>
              <a:buFont typeface="Arial"/>
              <a:buChar char="•"/>
            </a:pPr>
            <a:r>
              <a:rPr lang="en-US" sz="1900" spc="-38">
                <a:solidFill>
                  <a:srgbClr val="C7C3BC"/>
                </a:solidFill>
                <a:latin typeface="Agrandir"/>
                <a:ea typeface="Agrandir"/>
                <a:cs typeface="Agrandir"/>
                <a:sym typeface="Agrandir"/>
              </a:rPr>
              <a:t>COPA (Child Online Protection Act, 1998): Melarang pengiriman komersial materi yang berbahaya bagi anak di bawah umur; namun juga dinyatakan inkonstitusional oleh Mahkamah Agung karena membatasi kebebasan akses orang dewasa. </a:t>
            </a:r>
          </a:p>
          <a:p>
            <a:pPr algn="just" marL="410214" indent="-205107" lvl="1">
              <a:lnSpc>
                <a:spcPts val="2090"/>
              </a:lnSpc>
              <a:buFont typeface="Arial"/>
              <a:buChar char="•"/>
            </a:pPr>
            <a:r>
              <a:rPr lang="en-US" sz="1900" spc="-38">
                <a:solidFill>
                  <a:srgbClr val="C7C3BC"/>
                </a:solidFill>
                <a:latin typeface="Agrandir"/>
                <a:ea typeface="Agrandir"/>
                <a:cs typeface="Agrandir"/>
                <a:sym typeface="Agrandir"/>
              </a:rPr>
              <a:t>CIPA (Children's Internet Protection Act, 2000): Mewajibkan sekolah dan perpustakaan penerima dana federal (E-Rate) untuk menggunakan internet filter guna memblokir pornografi dan materi berbahaya bagi anak. </a:t>
            </a:r>
          </a:p>
          <a:p>
            <a:pPr algn="just">
              <a:lnSpc>
                <a:spcPts val="2090"/>
              </a:lnSpc>
            </a:pPr>
          </a:p>
          <a:p>
            <a:pPr algn="just">
              <a:lnSpc>
                <a:spcPts val="2200"/>
              </a:lnSpc>
            </a:pPr>
            <a:r>
              <a:rPr lang="en-US" b="true" sz="2000" spc="-40">
                <a:solidFill>
                  <a:srgbClr val="C7C3BC"/>
                </a:solidFill>
                <a:latin typeface="Agrandir Bold"/>
                <a:ea typeface="Agrandir Bold"/>
                <a:cs typeface="Agrandir Bold"/>
                <a:sym typeface="Agrandir Bold"/>
              </a:rPr>
              <a:t>CAN-SPAM Act (2003):</a:t>
            </a:r>
          </a:p>
          <a:p>
            <a:pPr algn="just">
              <a:lnSpc>
                <a:spcPts val="2090"/>
              </a:lnSpc>
            </a:pPr>
          </a:p>
          <a:p>
            <a:pPr algn="just" marL="410214" indent="-205107" lvl="1">
              <a:lnSpc>
                <a:spcPts val="2090"/>
              </a:lnSpc>
              <a:buFont typeface="Arial"/>
              <a:buChar char="•"/>
            </a:pPr>
            <a:r>
              <a:rPr lang="en-US" sz="1900" spc="-38">
                <a:solidFill>
                  <a:srgbClr val="C7C3BC"/>
                </a:solidFill>
                <a:latin typeface="Agrandir"/>
                <a:ea typeface="Agrandir"/>
                <a:cs typeface="Agrandir"/>
                <a:sym typeface="Agrandir"/>
              </a:rPr>
              <a:t>Mengatur aturan ketat bagi pengirim email komersial/iklan (wajib identitas pengirim akurat, subjek tidak menyesatkan, mencantumkan alamat pos fisik, serta menyediakan fitur opt-out bagi penerima). </a:t>
            </a:r>
          </a:p>
          <a:p>
            <a:pPr algn="just">
              <a:lnSpc>
                <a:spcPts val="22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6714" y="1028700"/>
            <a:ext cx="689027" cy="659170"/>
          </a:xfrm>
          <a:custGeom>
            <a:avLst/>
            <a:gdLst/>
            <a:ahLst/>
            <a:cxnLst/>
            <a:rect r="r" b="b" t="t" l="l"/>
            <a:pathLst>
              <a:path h="659170" w="689027">
                <a:moveTo>
                  <a:pt x="0" y="0"/>
                </a:moveTo>
                <a:lnTo>
                  <a:pt x="689028" y="0"/>
                </a:lnTo>
                <a:lnTo>
                  <a:pt x="689028" y="659170"/>
                </a:lnTo>
                <a:lnTo>
                  <a:pt x="0" y="659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38037" y="1191678"/>
            <a:ext cx="3926409" cy="3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618" spc="-52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Politeknik Negeri Lampung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71245" y="1782885"/>
            <a:ext cx="6345892" cy="3737639"/>
            <a:chOff x="0" y="0"/>
            <a:chExt cx="2416585" cy="1423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6585" cy="1423334"/>
            </a:xfrm>
            <a:custGeom>
              <a:avLst/>
              <a:gdLst/>
              <a:ahLst/>
              <a:cxnLst/>
              <a:rect r="r" b="b" t="t" l="l"/>
              <a:pathLst>
                <a:path h="1423334" w="2416585">
                  <a:moveTo>
                    <a:pt x="12200" y="0"/>
                  </a:moveTo>
                  <a:lnTo>
                    <a:pt x="2404385" y="0"/>
                  </a:lnTo>
                  <a:cubicBezTo>
                    <a:pt x="2407621" y="0"/>
                    <a:pt x="2410724" y="1285"/>
                    <a:pt x="2413012" y="3573"/>
                  </a:cubicBezTo>
                  <a:cubicBezTo>
                    <a:pt x="2415300" y="5861"/>
                    <a:pt x="2416585" y="8964"/>
                    <a:pt x="2416585" y="12200"/>
                  </a:cubicBezTo>
                  <a:lnTo>
                    <a:pt x="2416585" y="1411134"/>
                  </a:lnTo>
                  <a:cubicBezTo>
                    <a:pt x="2416585" y="1414369"/>
                    <a:pt x="2415300" y="1417472"/>
                    <a:pt x="2413012" y="1419760"/>
                  </a:cubicBezTo>
                  <a:cubicBezTo>
                    <a:pt x="2410724" y="1422048"/>
                    <a:pt x="2407621" y="1423334"/>
                    <a:pt x="2404385" y="1423334"/>
                  </a:cubicBezTo>
                  <a:lnTo>
                    <a:pt x="12200" y="1423334"/>
                  </a:lnTo>
                  <a:cubicBezTo>
                    <a:pt x="8964" y="1423334"/>
                    <a:pt x="5861" y="1422048"/>
                    <a:pt x="3573" y="1419760"/>
                  </a:cubicBezTo>
                  <a:cubicBezTo>
                    <a:pt x="1285" y="1417472"/>
                    <a:pt x="0" y="1414369"/>
                    <a:pt x="0" y="1411134"/>
                  </a:cubicBezTo>
                  <a:lnTo>
                    <a:pt x="0" y="12200"/>
                  </a:lnTo>
                  <a:cubicBezTo>
                    <a:pt x="0" y="8964"/>
                    <a:pt x="1285" y="5861"/>
                    <a:pt x="3573" y="3573"/>
                  </a:cubicBezTo>
                  <a:cubicBezTo>
                    <a:pt x="5861" y="1285"/>
                    <a:pt x="8964" y="0"/>
                    <a:pt x="12200" y="0"/>
                  </a:cubicBezTo>
                  <a:close/>
                </a:path>
              </a:pathLst>
            </a:custGeom>
            <a:ln w="19050" cap="sq">
              <a:solidFill>
                <a:srgbClr val="C7C3B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16585" cy="1461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71245" y="5853899"/>
            <a:ext cx="6345892" cy="3737639"/>
            <a:chOff x="0" y="0"/>
            <a:chExt cx="2416585" cy="14233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6585" cy="1423334"/>
            </a:xfrm>
            <a:custGeom>
              <a:avLst/>
              <a:gdLst/>
              <a:ahLst/>
              <a:cxnLst/>
              <a:rect r="r" b="b" t="t" l="l"/>
              <a:pathLst>
                <a:path h="1423334" w="2416585">
                  <a:moveTo>
                    <a:pt x="12200" y="0"/>
                  </a:moveTo>
                  <a:lnTo>
                    <a:pt x="2404385" y="0"/>
                  </a:lnTo>
                  <a:cubicBezTo>
                    <a:pt x="2407621" y="0"/>
                    <a:pt x="2410724" y="1285"/>
                    <a:pt x="2413012" y="3573"/>
                  </a:cubicBezTo>
                  <a:cubicBezTo>
                    <a:pt x="2415300" y="5861"/>
                    <a:pt x="2416585" y="8964"/>
                    <a:pt x="2416585" y="12200"/>
                  </a:cubicBezTo>
                  <a:lnTo>
                    <a:pt x="2416585" y="1411134"/>
                  </a:lnTo>
                  <a:cubicBezTo>
                    <a:pt x="2416585" y="1414369"/>
                    <a:pt x="2415300" y="1417472"/>
                    <a:pt x="2413012" y="1419760"/>
                  </a:cubicBezTo>
                  <a:cubicBezTo>
                    <a:pt x="2410724" y="1422048"/>
                    <a:pt x="2407621" y="1423334"/>
                    <a:pt x="2404385" y="1423334"/>
                  </a:cubicBezTo>
                  <a:lnTo>
                    <a:pt x="12200" y="1423334"/>
                  </a:lnTo>
                  <a:cubicBezTo>
                    <a:pt x="8964" y="1423334"/>
                    <a:pt x="5861" y="1422048"/>
                    <a:pt x="3573" y="1419760"/>
                  </a:cubicBezTo>
                  <a:cubicBezTo>
                    <a:pt x="1285" y="1417472"/>
                    <a:pt x="0" y="1414369"/>
                    <a:pt x="0" y="1411134"/>
                  </a:cubicBezTo>
                  <a:lnTo>
                    <a:pt x="0" y="12200"/>
                  </a:lnTo>
                  <a:cubicBezTo>
                    <a:pt x="0" y="8964"/>
                    <a:pt x="1285" y="5861"/>
                    <a:pt x="3573" y="3573"/>
                  </a:cubicBezTo>
                  <a:cubicBezTo>
                    <a:pt x="5861" y="1285"/>
                    <a:pt x="8964" y="0"/>
                    <a:pt x="12200" y="0"/>
                  </a:cubicBezTo>
                  <a:close/>
                </a:path>
              </a:pathLst>
            </a:custGeom>
            <a:ln w="19050" cap="sq">
              <a:solidFill>
                <a:srgbClr val="C7C3B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16585" cy="1461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19339" y="2163901"/>
            <a:ext cx="5227522" cy="2632770"/>
          </a:xfrm>
          <a:custGeom>
            <a:avLst/>
            <a:gdLst/>
            <a:ahLst/>
            <a:cxnLst/>
            <a:rect r="r" b="b" t="t" l="l"/>
            <a:pathLst>
              <a:path h="2632770" w="5227522">
                <a:moveTo>
                  <a:pt x="0" y="0"/>
                </a:moveTo>
                <a:lnTo>
                  <a:pt x="5227522" y="0"/>
                </a:lnTo>
                <a:lnTo>
                  <a:pt x="5227522" y="2632770"/>
                </a:lnTo>
                <a:lnTo>
                  <a:pt x="0" y="2632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19339" y="6201181"/>
            <a:ext cx="6375021" cy="26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ISU &amp; DILEMA ETIKA (BAGIAN 1): ANONIMITAS &amp; KEBOCORAN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39513" y="2123587"/>
            <a:ext cx="5441565" cy="53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515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Anonimitas di Internet (Anonymous Expression):</a:t>
            </a:r>
          </a:p>
          <a:p>
            <a:pPr algn="l">
              <a:lnSpc>
                <a:spcPts val="2121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639513" y="2618493"/>
            <a:ext cx="5209357" cy="293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8092" indent="-164046" lvl="1">
              <a:lnSpc>
                <a:spcPts val="2127"/>
              </a:lnSpc>
              <a:buFont typeface="Arial"/>
              <a:buChar char="•"/>
            </a:pPr>
            <a:r>
              <a:rPr lang="en-US" sz="1519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Sisi Positif: Melindungi hak berpendapat tanpa takut diintimidasi, penting bagi kelompok rentan, whistleblower, atau diskusi topik sensitif. </a:t>
            </a:r>
          </a:p>
          <a:p>
            <a:pPr algn="just" marL="328092" indent="-164046" lvl="1">
              <a:lnSpc>
                <a:spcPts val="2127"/>
              </a:lnSpc>
              <a:buFont typeface="Arial"/>
              <a:buChar char="•"/>
            </a:pPr>
            <a:r>
              <a:rPr lang="en-US" sz="1519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Sisi Negatif: Sering disalahgunakan untuk melakukan cyberbullying, fitnah, penipuan, hingga ujaran kebencian tanpa rasa tanggung jawab. </a:t>
            </a:r>
          </a:p>
          <a:p>
            <a:pPr algn="just" marL="328092" indent="-164046" lvl="1">
              <a:lnSpc>
                <a:spcPts val="2127"/>
              </a:lnSpc>
              <a:buFont typeface="Arial"/>
              <a:buChar char="•"/>
            </a:pPr>
            <a:r>
              <a:rPr lang="en-US" sz="1519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Contoh Mekanisme: Penggunaan layanan anonymous remailer untuk menghapus header dan alamat IP pengirim asli</a:t>
            </a:r>
          </a:p>
          <a:p>
            <a:pPr algn="just">
              <a:lnSpc>
                <a:spcPts val="2127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639513" y="6124981"/>
            <a:ext cx="4223652" cy="26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  <a:spcBef>
                <a:spcPct val="0"/>
              </a:spcBef>
            </a:pPr>
            <a:r>
              <a:rPr lang="en-US" b="true" sz="1515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Kebocoran Data vs Transparansi Publik: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39513" y="6689507"/>
            <a:ext cx="5209357" cy="266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8092" indent="-164046" lvl="1">
              <a:lnSpc>
                <a:spcPts val="2127"/>
              </a:lnSpc>
              <a:buFont typeface="Arial"/>
              <a:buChar char="•"/>
            </a:pPr>
            <a:r>
              <a:rPr lang="en-US" sz="1519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Dilema antara hak publik untuk mengetahui informasi rahasia (right to know) melawan ancaman pelanggaran hukum dan keamanan nasional. </a:t>
            </a:r>
          </a:p>
          <a:p>
            <a:pPr algn="just" marL="328092" indent="-164046" lvl="1">
              <a:lnSpc>
                <a:spcPts val="2127"/>
              </a:lnSpc>
              <a:spcBef>
                <a:spcPct val="0"/>
              </a:spcBef>
              <a:buFont typeface="Arial"/>
              <a:buChar char="•"/>
            </a:pPr>
            <a:r>
              <a:rPr lang="en-US" sz="1519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Studi Kasus: Organisasi seperti WikiLeaks yang merilis ratusan ribu dokumen rahasia militer dan diplomatik AS, memicu perdebatan sengit antara jurnalisme investigasi dan pelanggaran hukum federal.</a:t>
            </a:r>
          </a:p>
          <a:p>
            <a:pPr algn="just">
              <a:lnSpc>
                <a:spcPts val="2127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06714" y="1028700"/>
            <a:ext cx="689027" cy="659170"/>
          </a:xfrm>
          <a:custGeom>
            <a:avLst/>
            <a:gdLst/>
            <a:ahLst/>
            <a:cxnLst/>
            <a:rect r="r" b="b" t="t" l="l"/>
            <a:pathLst>
              <a:path h="659170" w="689027">
                <a:moveTo>
                  <a:pt x="0" y="0"/>
                </a:moveTo>
                <a:lnTo>
                  <a:pt x="689028" y="0"/>
                </a:lnTo>
                <a:lnTo>
                  <a:pt x="689028" y="659170"/>
                </a:lnTo>
                <a:lnTo>
                  <a:pt x="0" y="65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38037" y="1191678"/>
            <a:ext cx="3926409" cy="3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618" spc="-52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Politeknik Negeri Lampung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31745" y="-2167145"/>
            <a:ext cx="5867302" cy="5888715"/>
          </a:xfrm>
          <a:custGeom>
            <a:avLst/>
            <a:gdLst/>
            <a:ahLst/>
            <a:cxnLst/>
            <a:rect r="r" b="b" t="t" l="l"/>
            <a:pathLst>
              <a:path h="5888715" w="5867302">
                <a:moveTo>
                  <a:pt x="0" y="0"/>
                </a:moveTo>
                <a:lnTo>
                  <a:pt x="5867302" y="0"/>
                </a:lnTo>
                <a:lnTo>
                  <a:pt x="5867302" y="5888715"/>
                </a:lnTo>
                <a:lnTo>
                  <a:pt x="0" y="58887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1124" y="3857415"/>
            <a:ext cx="3983659" cy="5375533"/>
            <a:chOff x="0" y="0"/>
            <a:chExt cx="1517021" cy="20470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17021" cy="2047062"/>
            </a:xfrm>
            <a:custGeom>
              <a:avLst/>
              <a:gdLst/>
              <a:ahLst/>
              <a:cxnLst/>
              <a:rect r="r" b="b" t="t" l="l"/>
              <a:pathLst>
                <a:path h="2047062" w="1517021">
                  <a:moveTo>
                    <a:pt x="19434" y="0"/>
                  </a:moveTo>
                  <a:lnTo>
                    <a:pt x="1497587" y="0"/>
                  </a:lnTo>
                  <a:cubicBezTo>
                    <a:pt x="1502741" y="0"/>
                    <a:pt x="1507684" y="2048"/>
                    <a:pt x="1511329" y="5692"/>
                  </a:cubicBezTo>
                  <a:cubicBezTo>
                    <a:pt x="1514974" y="9337"/>
                    <a:pt x="1517021" y="14280"/>
                    <a:pt x="1517021" y="19434"/>
                  </a:cubicBezTo>
                  <a:lnTo>
                    <a:pt x="1517021" y="2027628"/>
                  </a:lnTo>
                  <a:cubicBezTo>
                    <a:pt x="1517021" y="2032782"/>
                    <a:pt x="1514974" y="2037725"/>
                    <a:pt x="1511329" y="2041370"/>
                  </a:cubicBezTo>
                  <a:cubicBezTo>
                    <a:pt x="1507684" y="2045014"/>
                    <a:pt x="1502741" y="2047062"/>
                    <a:pt x="1497587" y="2047062"/>
                  </a:cubicBezTo>
                  <a:lnTo>
                    <a:pt x="19434" y="2047062"/>
                  </a:lnTo>
                  <a:cubicBezTo>
                    <a:pt x="14280" y="2047062"/>
                    <a:pt x="9337" y="2045014"/>
                    <a:pt x="5692" y="2041370"/>
                  </a:cubicBezTo>
                  <a:cubicBezTo>
                    <a:pt x="2048" y="2037725"/>
                    <a:pt x="0" y="2032782"/>
                    <a:pt x="0" y="2027628"/>
                  </a:cubicBezTo>
                  <a:lnTo>
                    <a:pt x="0" y="19434"/>
                  </a:lnTo>
                  <a:cubicBezTo>
                    <a:pt x="0" y="14280"/>
                    <a:pt x="2048" y="9337"/>
                    <a:pt x="5692" y="5692"/>
                  </a:cubicBezTo>
                  <a:cubicBezTo>
                    <a:pt x="9337" y="2048"/>
                    <a:pt x="14280" y="0"/>
                    <a:pt x="19434" y="0"/>
                  </a:cubicBezTo>
                  <a:close/>
                </a:path>
              </a:pathLst>
            </a:custGeom>
            <a:ln w="19050" cap="sq">
              <a:solidFill>
                <a:srgbClr val="C7C3B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17021" cy="2085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52170" y="4048125"/>
            <a:ext cx="3983659" cy="5574240"/>
            <a:chOff x="0" y="0"/>
            <a:chExt cx="1517021" cy="21227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7021" cy="2122732"/>
            </a:xfrm>
            <a:custGeom>
              <a:avLst/>
              <a:gdLst/>
              <a:ahLst/>
              <a:cxnLst/>
              <a:rect r="r" b="b" t="t" l="l"/>
              <a:pathLst>
                <a:path h="2122732" w="1517021">
                  <a:moveTo>
                    <a:pt x="19434" y="0"/>
                  </a:moveTo>
                  <a:lnTo>
                    <a:pt x="1497587" y="0"/>
                  </a:lnTo>
                  <a:cubicBezTo>
                    <a:pt x="1502741" y="0"/>
                    <a:pt x="1507684" y="2048"/>
                    <a:pt x="1511329" y="5692"/>
                  </a:cubicBezTo>
                  <a:cubicBezTo>
                    <a:pt x="1514974" y="9337"/>
                    <a:pt x="1517021" y="14280"/>
                    <a:pt x="1517021" y="19434"/>
                  </a:cubicBezTo>
                  <a:lnTo>
                    <a:pt x="1517021" y="2103297"/>
                  </a:lnTo>
                  <a:cubicBezTo>
                    <a:pt x="1517021" y="2114031"/>
                    <a:pt x="1508320" y="2122732"/>
                    <a:pt x="1497587" y="2122732"/>
                  </a:cubicBezTo>
                  <a:lnTo>
                    <a:pt x="19434" y="2122732"/>
                  </a:lnTo>
                  <a:cubicBezTo>
                    <a:pt x="14280" y="2122732"/>
                    <a:pt x="9337" y="2120684"/>
                    <a:pt x="5692" y="2117040"/>
                  </a:cubicBezTo>
                  <a:cubicBezTo>
                    <a:pt x="2048" y="2113395"/>
                    <a:pt x="0" y="2108452"/>
                    <a:pt x="0" y="2103297"/>
                  </a:cubicBezTo>
                  <a:lnTo>
                    <a:pt x="0" y="19434"/>
                  </a:lnTo>
                  <a:cubicBezTo>
                    <a:pt x="0" y="14280"/>
                    <a:pt x="2048" y="9337"/>
                    <a:pt x="5692" y="5692"/>
                  </a:cubicBezTo>
                  <a:cubicBezTo>
                    <a:pt x="9337" y="2048"/>
                    <a:pt x="14280" y="0"/>
                    <a:pt x="19434" y="0"/>
                  </a:cubicBezTo>
                  <a:close/>
                </a:path>
              </a:pathLst>
            </a:custGeom>
            <a:ln w="19050" cap="sq">
              <a:solidFill>
                <a:srgbClr val="C7C3B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17021" cy="2160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10863" y="3882767"/>
            <a:ext cx="3983659" cy="5375533"/>
            <a:chOff x="0" y="0"/>
            <a:chExt cx="1517021" cy="20470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7021" cy="2047062"/>
            </a:xfrm>
            <a:custGeom>
              <a:avLst/>
              <a:gdLst/>
              <a:ahLst/>
              <a:cxnLst/>
              <a:rect r="r" b="b" t="t" l="l"/>
              <a:pathLst>
                <a:path h="2047062" w="1517021">
                  <a:moveTo>
                    <a:pt x="19434" y="0"/>
                  </a:moveTo>
                  <a:lnTo>
                    <a:pt x="1497587" y="0"/>
                  </a:lnTo>
                  <a:cubicBezTo>
                    <a:pt x="1502741" y="0"/>
                    <a:pt x="1507684" y="2048"/>
                    <a:pt x="1511329" y="5692"/>
                  </a:cubicBezTo>
                  <a:cubicBezTo>
                    <a:pt x="1514974" y="9337"/>
                    <a:pt x="1517021" y="14280"/>
                    <a:pt x="1517021" y="19434"/>
                  </a:cubicBezTo>
                  <a:lnTo>
                    <a:pt x="1517021" y="2027628"/>
                  </a:lnTo>
                  <a:cubicBezTo>
                    <a:pt x="1517021" y="2032782"/>
                    <a:pt x="1514974" y="2037725"/>
                    <a:pt x="1511329" y="2041370"/>
                  </a:cubicBezTo>
                  <a:cubicBezTo>
                    <a:pt x="1507684" y="2045014"/>
                    <a:pt x="1502741" y="2047062"/>
                    <a:pt x="1497587" y="2047062"/>
                  </a:cubicBezTo>
                  <a:lnTo>
                    <a:pt x="19434" y="2047062"/>
                  </a:lnTo>
                  <a:cubicBezTo>
                    <a:pt x="14280" y="2047062"/>
                    <a:pt x="9337" y="2045014"/>
                    <a:pt x="5692" y="2041370"/>
                  </a:cubicBezTo>
                  <a:cubicBezTo>
                    <a:pt x="2048" y="2037725"/>
                    <a:pt x="0" y="2032782"/>
                    <a:pt x="0" y="2027628"/>
                  </a:cubicBezTo>
                  <a:lnTo>
                    <a:pt x="0" y="19434"/>
                  </a:lnTo>
                  <a:cubicBezTo>
                    <a:pt x="0" y="14280"/>
                    <a:pt x="2048" y="9337"/>
                    <a:pt x="5692" y="5692"/>
                  </a:cubicBezTo>
                  <a:cubicBezTo>
                    <a:pt x="9337" y="2048"/>
                    <a:pt x="14280" y="0"/>
                    <a:pt x="19434" y="0"/>
                  </a:cubicBezTo>
                  <a:close/>
                </a:path>
              </a:pathLst>
            </a:custGeom>
            <a:ln w="19050" cap="sq">
              <a:solidFill>
                <a:srgbClr val="C7C3B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17021" cy="2085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58985" y="4057650"/>
            <a:ext cx="3144926" cy="60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Sensor Internet (Internet Censorship):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1124" y="4865370"/>
            <a:ext cx="3340648" cy="439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Pengendalian atau pembatasan akses dan publikasi informasi di internet oleh otoritas/pemerintah.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Bentuknya meliputi pemblokiran situs, pemfilteran kata kunci pencarian, pemantauan aktivitas, hingga penangkapan jurnalis/blogger (Contoh: Great Firewall di China).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505944" y="4173093"/>
            <a:ext cx="3005153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2000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SLAPP (Strategic Lawsuit Against Public Participation):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07164" y="5468669"/>
            <a:ext cx="3402712" cy="407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Taktik gugatan hukum (seperti gugatan fitnah fiktif) yang dipakai oleh korporasi atau pejabat untuk mengintimidasi dan membungkam kritik publik dari warga sipil.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Ditangkal dengan adanya Anti-SLAPP Laws untuk menghentikan gugatan tidak berdasar dengan cepat.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015441" y="4057650"/>
            <a:ext cx="300515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99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Spam &amp; Pelanggaran Privasi Digital: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15441" y="5468669"/>
            <a:ext cx="3177722" cy="376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Pengiriman e-mail promosi atau konten yang tidak diinginkan secara massal (unsolicited email).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7C3BC"/>
                </a:solidFill>
                <a:latin typeface="Montserrat"/>
                <a:ea typeface="Montserrat"/>
                <a:cs typeface="Montserrat"/>
                <a:sym typeface="Montserrat"/>
              </a:rPr>
              <a:t>Menimbulkan kerugian biaya bandwidth, mengurangi produktivitas, serta sarana penyebaran malware.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557490" y="1716445"/>
            <a:ext cx="7280952" cy="191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9"/>
              </a:lnSpc>
            </a:pPr>
            <a:r>
              <a:rPr lang="en-US" sz="4554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 ISU &amp; DILEMA ETIKA (BAGIAN 2):  SENSOR INTERNET, SLAPP, &amp; SPAM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06714" y="1028700"/>
            <a:ext cx="689027" cy="659170"/>
          </a:xfrm>
          <a:custGeom>
            <a:avLst/>
            <a:gdLst/>
            <a:ahLst/>
            <a:cxnLst/>
            <a:rect r="r" b="b" t="t" l="l"/>
            <a:pathLst>
              <a:path h="659170" w="689027">
                <a:moveTo>
                  <a:pt x="0" y="0"/>
                </a:moveTo>
                <a:lnTo>
                  <a:pt x="689028" y="0"/>
                </a:lnTo>
                <a:lnTo>
                  <a:pt x="689028" y="659170"/>
                </a:lnTo>
                <a:lnTo>
                  <a:pt x="0" y="65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538037" y="1191678"/>
            <a:ext cx="3926409" cy="3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618" spc="-52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Politeknik Negeri Lampung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2069" y="7292625"/>
            <a:ext cx="4201538" cy="6621336"/>
          </a:xfrm>
          <a:custGeom>
            <a:avLst/>
            <a:gdLst/>
            <a:ahLst/>
            <a:cxnLst/>
            <a:rect r="r" b="b" t="t" l="l"/>
            <a:pathLst>
              <a:path h="6621336" w="4201538">
                <a:moveTo>
                  <a:pt x="0" y="0"/>
                </a:moveTo>
                <a:lnTo>
                  <a:pt x="4201538" y="0"/>
                </a:lnTo>
                <a:lnTo>
                  <a:pt x="4201538" y="6621336"/>
                </a:lnTo>
                <a:lnTo>
                  <a:pt x="0" y="662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40260" y="-5515334"/>
            <a:ext cx="4201538" cy="6621336"/>
          </a:xfrm>
          <a:custGeom>
            <a:avLst/>
            <a:gdLst/>
            <a:ahLst/>
            <a:cxnLst/>
            <a:rect r="r" b="b" t="t" l="l"/>
            <a:pathLst>
              <a:path h="6621336" w="4201538">
                <a:moveTo>
                  <a:pt x="0" y="0"/>
                </a:moveTo>
                <a:lnTo>
                  <a:pt x="4201539" y="0"/>
                </a:lnTo>
                <a:lnTo>
                  <a:pt x="4201539" y="6621336"/>
                </a:lnTo>
                <a:lnTo>
                  <a:pt x="0" y="662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01241" y="1668820"/>
            <a:ext cx="9982876" cy="178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2"/>
              </a:lnSpc>
            </a:pPr>
            <a:r>
              <a:rPr lang="en-US" sz="5750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KASUS NYATA &amp; KONTEKS DI INDONESIA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92893" y="4412148"/>
            <a:ext cx="12757741" cy="506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99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Ujaran Kebencian (Hate Speech) di Media Sosial:</a:t>
            </a:r>
          </a:p>
          <a:p>
            <a:pPr algn="l" marL="539749" indent="-269875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C7C3B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Kasus-kasus kontroversial di ruang publik digital Indonesia yang berujung pada pelaporan hukum menggunakan </a:t>
            </a:r>
            <a:r>
              <a:rPr lang="en-US" b="true" sz="2499">
                <a:solidFill>
                  <a:srgbClr val="C7C3B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Pasal 27-29 UU ITE.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  <a:r>
              <a:rPr lang="en-US" sz="2499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Cyberbullying &amp; Kekerasan Digital:</a:t>
            </a:r>
          </a:p>
          <a:p>
            <a:pPr algn="l" marL="539749" indent="-269875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C7C3B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Fenomena perundungan dunia maya yang menimpa remaja atau pelajar, yang kerap memicu depresi hingga tindakan fatal akibat viralnya informasi negatif.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  <a:r>
              <a:rPr lang="en-US" sz="2499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Ulasan Palsu (Fake Reviews) di Marketplace:</a:t>
            </a:r>
          </a:p>
          <a:p>
            <a:pPr algn="l" marL="539749" indent="-269875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C7C3B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Praktik manipulasi ulasan produk di e-commerce (seperti Shopee atau Tokopedia) di mana penjual membeli ulasan positif palsu untuk menaikkan rating atau menjatuhkan kompetitor secara tidak etis.</a:t>
            </a:r>
          </a:p>
          <a:p>
            <a:pPr algn="l">
              <a:lnSpc>
                <a:spcPts val="2924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6714" y="1028700"/>
            <a:ext cx="689027" cy="659170"/>
          </a:xfrm>
          <a:custGeom>
            <a:avLst/>
            <a:gdLst/>
            <a:ahLst/>
            <a:cxnLst/>
            <a:rect r="r" b="b" t="t" l="l"/>
            <a:pathLst>
              <a:path h="659170" w="689027">
                <a:moveTo>
                  <a:pt x="0" y="0"/>
                </a:moveTo>
                <a:lnTo>
                  <a:pt x="689028" y="0"/>
                </a:lnTo>
                <a:lnTo>
                  <a:pt x="689028" y="659170"/>
                </a:lnTo>
                <a:lnTo>
                  <a:pt x="0" y="65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38037" y="1191678"/>
            <a:ext cx="3926409" cy="3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618" spc="-52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Politeknik Negeri Lampung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01900" y="-129908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5261" y="3984501"/>
            <a:ext cx="11061796" cy="47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Penerapan Etika Moral: </a:t>
            </a:r>
          </a:p>
          <a:p>
            <a:pPr algn="just">
              <a:lnSpc>
                <a:spcPts val="2924"/>
              </a:lnSpc>
            </a:pPr>
          </a:p>
          <a:p>
            <a:pPr algn="just" marL="539749" indent="-269875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C7C3B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Kebebasan berbicara wajib diimbangi dengan empati online menyadari bahwa di balik layar terdapat manusia nyata yang dapat terluka secara psikologis.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C7C3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Peran Literasi Digital:</a:t>
            </a:r>
          </a:p>
          <a:p>
            <a:pPr algn="just">
              <a:lnSpc>
                <a:spcPts val="2924"/>
              </a:lnSpc>
            </a:pPr>
          </a:p>
          <a:p>
            <a:pPr algn="just" marL="539749" indent="-269875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C7C3B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Gerakan literasi nasional yang digalakkan pemerintah (seperti program Literasi Digital oleh Kominfo) untuk mencerdaskan masyarakat agar cakap digital, aman digital, beretika digital, dan berbudaya digital.</a:t>
            </a:r>
          </a:p>
          <a:p>
            <a:pPr algn="just">
              <a:lnSpc>
                <a:spcPts val="292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092585" y="1668820"/>
            <a:ext cx="11935547" cy="176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1"/>
              </a:lnSpc>
            </a:pPr>
            <a:r>
              <a:rPr lang="en-US" sz="5700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TANGGUNG JAWAB DIGITAL, EMPATI, &amp; LITERASI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6714" y="1028700"/>
            <a:ext cx="689027" cy="659170"/>
          </a:xfrm>
          <a:custGeom>
            <a:avLst/>
            <a:gdLst/>
            <a:ahLst/>
            <a:cxnLst/>
            <a:rect r="r" b="b" t="t" l="l"/>
            <a:pathLst>
              <a:path h="659170" w="689027">
                <a:moveTo>
                  <a:pt x="0" y="0"/>
                </a:moveTo>
                <a:lnTo>
                  <a:pt x="689028" y="0"/>
                </a:lnTo>
                <a:lnTo>
                  <a:pt x="689028" y="659170"/>
                </a:lnTo>
                <a:lnTo>
                  <a:pt x="0" y="65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38037" y="1191678"/>
            <a:ext cx="3926409" cy="3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618" spc="-52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Politeknik Negeri Lampung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14871" y="-3373129"/>
            <a:ext cx="6746258" cy="6746258"/>
          </a:xfrm>
          <a:custGeom>
            <a:avLst/>
            <a:gdLst/>
            <a:ahLst/>
            <a:cxnLst/>
            <a:rect r="r" b="b" t="t" l="l"/>
            <a:pathLst>
              <a:path h="6746258" w="6746258">
                <a:moveTo>
                  <a:pt x="0" y="0"/>
                </a:moveTo>
                <a:lnTo>
                  <a:pt x="6746258" y="0"/>
                </a:lnTo>
                <a:lnTo>
                  <a:pt x="6746258" y="6746258"/>
                </a:lnTo>
                <a:lnTo>
                  <a:pt x="0" y="6746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5845" y="3242037"/>
            <a:ext cx="5704725" cy="529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54"/>
              </a:lnSpc>
            </a:pPr>
            <a:r>
              <a:rPr lang="en-US" sz="8499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SESI DISKUSI &amp; TANYA</a:t>
            </a:r>
            <a:r>
              <a:rPr lang="en-US" sz="8499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 JAWAB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18017" y="3883799"/>
            <a:ext cx="8493583" cy="425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8"/>
              </a:lnSpc>
            </a:pPr>
            <a:r>
              <a:rPr lang="en-US" sz="2818" spc="-56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Pertanyaan Diskusi Utama:</a:t>
            </a:r>
          </a:p>
          <a:p>
            <a:pPr algn="l">
              <a:lnSpc>
                <a:spcPts val="2818"/>
              </a:lnSpc>
            </a:pPr>
          </a:p>
          <a:p>
            <a:pPr algn="l" marL="608550" indent="-304275" lvl="1">
              <a:lnSpc>
                <a:spcPts val="2818"/>
              </a:lnSpc>
              <a:buAutoNum type="arabicPeriod" startAt="1"/>
            </a:pPr>
            <a:r>
              <a:rPr lang="en-US" sz="2818" spc="-56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K</a:t>
            </a:r>
            <a:r>
              <a:rPr lang="en-US" b="true" sz="2818" spc="-56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apan kebebasan berbicara berhenti menjadi hak, dan mulai berubah menjadi pelanggaran hukum?</a:t>
            </a:r>
          </a:p>
          <a:p>
            <a:pPr algn="l">
              <a:lnSpc>
                <a:spcPts val="2818"/>
              </a:lnSpc>
            </a:pPr>
          </a:p>
          <a:p>
            <a:pPr algn="l" marL="608550" indent="-304275" lvl="1">
              <a:lnSpc>
                <a:spcPts val="2818"/>
              </a:lnSpc>
              <a:buAutoNum type="arabicPeriod" startAt="1"/>
            </a:pPr>
            <a:r>
              <a:rPr lang="en-US" sz="2818" spc="-56">
                <a:solidFill>
                  <a:srgbClr val="C7C3BC"/>
                </a:solidFill>
                <a:latin typeface="Garamond"/>
                <a:ea typeface="Garamond"/>
                <a:cs typeface="Garamond"/>
                <a:sym typeface="Garamond"/>
              </a:rPr>
              <a:t>A</a:t>
            </a:r>
            <a:r>
              <a:rPr lang="en-US" b="true" sz="2818" spc="-56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pakah anonimitas di internet selalu diperlukan, atau justru lebih banyak membawa mudarat?</a:t>
            </a:r>
          </a:p>
          <a:p>
            <a:pPr algn="l">
              <a:lnSpc>
                <a:spcPts val="2818"/>
              </a:lnSpc>
            </a:pPr>
          </a:p>
          <a:p>
            <a:pPr algn="l" marL="608550" indent="-304275" lvl="1">
              <a:lnSpc>
                <a:spcPts val="2818"/>
              </a:lnSpc>
              <a:buAutoNum type="arabicPeriod" startAt="1"/>
            </a:pPr>
            <a:r>
              <a:rPr lang="en-US" b="true" sz="2818" spc="-56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Bagaimana cara menyeimbangkan antara regulasi sensor konten berbahaya dengan perlindungan kebebasan informasi warga?</a:t>
            </a:r>
          </a:p>
          <a:p>
            <a:pPr algn="l">
              <a:lnSpc>
                <a:spcPts val="281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6714" y="1028700"/>
            <a:ext cx="689027" cy="659170"/>
          </a:xfrm>
          <a:custGeom>
            <a:avLst/>
            <a:gdLst/>
            <a:ahLst/>
            <a:cxnLst/>
            <a:rect r="r" b="b" t="t" l="l"/>
            <a:pathLst>
              <a:path h="659170" w="689027">
                <a:moveTo>
                  <a:pt x="0" y="0"/>
                </a:moveTo>
                <a:lnTo>
                  <a:pt x="689028" y="0"/>
                </a:lnTo>
                <a:lnTo>
                  <a:pt x="689028" y="659170"/>
                </a:lnTo>
                <a:lnTo>
                  <a:pt x="0" y="65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38037" y="1191678"/>
            <a:ext cx="3926409" cy="3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618" spc="-52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Politeknik Negeri Lampung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-178503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29380" y="756668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65166" y="6756124"/>
            <a:ext cx="10357669" cy="81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  <a:spcBef>
                <a:spcPct val="0"/>
              </a:spcBef>
            </a:pPr>
            <a:r>
              <a:rPr lang="en-US" sz="2313">
                <a:solidFill>
                  <a:srgbClr val="E6EDED"/>
                </a:solidFill>
                <a:latin typeface="Montserrat"/>
                <a:ea typeface="Montserrat"/>
                <a:cs typeface="Montserrat"/>
                <a:sym typeface="Montserrat"/>
              </a:rPr>
              <a:t>Kebebasan berekspresi adalah hak fundamental, namun tanggung jawab etis adalah fondasi utama dalam merawatnya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2252" y="2626068"/>
            <a:ext cx="15363495" cy="332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1781">
                <a:solidFill>
                  <a:srgbClr val="E6EDED"/>
                </a:solidFill>
                <a:latin typeface="Garamond"/>
                <a:ea typeface="Garamond"/>
                <a:cs typeface="Garamond"/>
                <a:sym typeface="Garamond"/>
              </a:rPr>
              <a:t>Thank You for Your Attention.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6714" y="1028700"/>
            <a:ext cx="689027" cy="659170"/>
          </a:xfrm>
          <a:custGeom>
            <a:avLst/>
            <a:gdLst/>
            <a:ahLst/>
            <a:cxnLst/>
            <a:rect r="r" b="b" t="t" l="l"/>
            <a:pathLst>
              <a:path h="659170" w="689027">
                <a:moveTo>
                  <a:pt x="0" y="0"/>
                </a:moveTo>
                <a:lnTo>
                  <a:pt x="689028" y="0"/>
                </a:lnTo>
                <a:lnTo>
                  <a:pt x="689028" y="659170"/>
                </a:lnTo>
                <a:lnTo>
                  <a:pt x="0" y="65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38037" y="1191678"/>
            <a:ext cx="3926409" cy="3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618" spc="-52" b="true">
                <a:solidFill>
                  <a:srgbClr val="C7C3BC"/>
                </a:solidFill>
                <a:latin typeface="Garamond Bold"/>
                <a:ea typeface="Garamond Bold"/>
                <a:cs typeface="Garamond Bold"/>
                <a:sym typeface="Garamond Bold"/>
              </a:rPr>
              <a:t>Politeknik Negeri Lampung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DAHXtxDjWhs</dc:identifier>
  <dcterms:modified xsi:type="dcterms:W3CDTF">2011-08-01T06:04:30Z</dcterms:modified>
  <cp:revision>1</cp:revision>
  <dc:title>Hijau dan Coklat Minimalist Pelatihan Kepemimpinan dan Manajemen Presentation</dc:title>
</cp:coreProperties>
</file>